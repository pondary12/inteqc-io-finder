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7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532" autoAdjust="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276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1371600" cy="36576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FINDER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I/O Finder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5702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ระบบสืบค้นข้อมูล I/O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และแบบแปลนตู้วงจรไฟฟ้าอัจฉริยะ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7719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ผู้จัดทำ: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ภูมิภัทร ศิริวัฒน์ (Phumiphat Siriwat)
</a:t>
            </a: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หน่วยงาน: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นักศึกษาฝึกงานสหกิจศึกษา แผนก Automation, บริษัท Inteqc Global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CONTEXT &amp; 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46101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บริบท &amp; ความเป็นมาของปัญหา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3380" y="1051560"/>
            <a:ext cx="4099560" cy="3831834"/>
          </a:xfrm>
          <a:prstGeom prst="rect">
            <a:avLst/>
          </a:prstGeom>
          <a:solidFill>
            <a:srgbClr val="FFF5F5"/>
          </a:solidFill>
          <a:ln w="1270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1243452"/>
            <a:ext cx="4215174" cy="39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ปัญหาในปัจจุบัน (Current Problems)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78366"/>
            <a:ext cx="3924300" cy="3305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ข้อมูลกระจัดกระจายและแยกส่วนกัน
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รายการ I/O Points อยู่ในไฟล์ Excel แต่แบบแปลนการต่อสายไฟ (Wiring Diagrams) อยู่ในไฟล์ PDF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ขนาดใหญ่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ไม่มีระบบสืบค้นข้อมูลส่วนกลาง
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เมื่อเกิดปัญหาที่เครื่องจักร ช่างไฟฟ้าต้องเสียเวลาเปิดตาราง Excel หาตำแหน่งตู้/ที่อยู่ จากนั้นต้องไปเปิด PDF แบบแปลนวงจรไฟฟ้ายาวกว่า 1,000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หน้าและเลื่อนหาทีละหน้าด้วยตนเอง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เสียเวลาในการซ่อมบำรุงและเสี่ยงต่อการผิดพลาด
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ความล่าช้าในการค้นหาทำให้ระยะเวลาเครื่องจักรหยุดทำงาน (Downtime) สูงขึ้น และอาจเกิดความสับสนในการต่อสายไฟจากสัญลักษณ์ที่คล้ายกัน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93920" y="1051560"/>
            <a:ext cx="4267200" cy="38318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9594" y="1206744"/>
            <a:ext cx="3825766" cy="39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ความจำเป็นของโปรเจกต์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3920" y="1440180"/>
            <a:ext cx="3825766" cy="3305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</a:t>
            </a:r>
            <a:r>
              <a:rPr lang="en-US" sz="13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รวมข้อมูล</a:t>
            </a: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I/O </a:t>
            </a:r>
            <a:r>
              <a:rPr lang="en-US" sz="13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และแบบแปลน</a:t>
            </a: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
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เชื่อมโยงที่อยู่ I/O, รหัสอุปกรณ์ใน Excel และหน้าแบบแปลน PDF ให้ทำงานสัมพันธ์กันโดยอัตโนมัติในจุดเดียว
</a:t>
            </a: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ค้นหาได้อย่างรวดเร็วด้วย Autocomplete
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รองรับการพิมพ์ค้นหาแบบเดาคำล่วงหน้า (ทั้งรหัสตู้, รหัสเครื่องจักร หรือที่อยู่ I/O) ทำให้เข้าถึงข้อมูลได้ภายในเวลาไม่กี่วินาที
</a:t>
            </a: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ลด Downtime และสนับสนุนช่างหน้างาน
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ช่างไฟฟ้า/วิศวกรสามารถเปิดดูข้อมูลผังวงจรไฟฟ้าที่ถูกต้องได้ทันทีขณะอยู่หน้าตู้คอนโทรล ช่วยให้แก้ปัญหาได้ตรงจุดและแม่นยำสูงสุด</a:t>
            </a:r>
            <a:endParaRPr lang="en-US" sz="13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48622CC8-F735-B617-0858-6A1E9846475C}"/>
              </a:ext>
            </a:extLst>
          </p:cNvPr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ASSIGNED TASK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ลักษณะงานที่ได้รับมอบหมาย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3134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เป้าหมายหลัก: 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พัฒนาเว็บแอปพลิเคชันสำหรับสืบค้นและแสดงความสัมพันธ์ระหว่างข้อมูล Excel รายการ I/O points และเอกสาร PDF แบบแปลนวงจรไฟฟ้าแบบอัตโนมัติ เพื่อช่วยให้ช่างเทคนิคสามารถสืบค้นและเข้าถึงคู่มือการเดินสายไฟได้อย่างมีประสิทธิภาพสูงสุด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2099" y="2512160"/>
            <a:ext cx="2269608" cy="21055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4979" y="2695041"/>
            <a:ext cx="2002595" cy="306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ข้อมูลนำเข้า (Inputs)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4979" y="3001549"/>
            <a:ext cx="2002595" cy="836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ไฟล์รายการ I/O (Excel)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แบบแปลนตู้ควบคุม (PDF)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โครงสร้างตู้คอนโทรลเดิม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8939" y="3274311"/>
            <a:ext cx="505072" cy="340157"/>
          </a:xfrm>
          <a:prstGeom prst="rightArrow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2327" y="2518316"/>
            <a:ext cx="2269608" cy="21055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72470" y="2648697"/>
            <a:ext cx="2002595" cy="306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การประมวลผล (Engine)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3702" y="3091741"/>
            <a:ext cx="2002595" cy="1269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Script Parsing แยกข้อมูล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คลีนคำคลาดเคลื่อน (Normalizer)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จับคู่พิกัดและสร้างดัชนีสืบค้น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ลิงก์ที่อยู่ I/O กับหน้าแบบแปลน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77085" y="3276808"/>
            <a:ext cx="505072" cy="340157"/>
          </a:xfrm>
          <a:prstGeom prst="rightArrow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62555" y="2508352"/>
            <a:ext cx="2559346" cy="210799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01172" y="2692602"/>
            <a:ext cx="2258247" cy="299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200" b="1" dirty="0" err="1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ผลลัพธ์เว็บแอป</a:t>
            </a: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 App UI)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01172" y="3001550"/>
            <a:ext cx="2258247" cy="1121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ค้นหาทันใจแบบ Autocomplete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หน้าแสดงผลแบบ Split-screen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ข้ามไปหน้าแบบแปลนที่ถูกตู้</a:t>
            </a:r>
            <a:endParaRPr lang="en-US" sz="120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ช่างเทคนิคเปิดหาผ่านมือถือ</a:t>
            </a:r>
            <a:endParaRPr lang="en-US" sz="120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1F52CF06-49D7-BAE7-FA7D-150F0307E0E5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B0B03330-0C29-FC73-3B6C-8B8BA9ACA3A8}"/>
              </a:ext>
            </a:extLst>
          </p:cNvPr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PROJECT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ขอบเขตของงาน (Scope of Work)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5740" y="1074420"/>
            <a:ext cx="4503420" cy="294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0060" y="12573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ขอบเขตงานที่ศึกษาและพัฒนา (In-Scope)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7190" y="1592580"/>
            <a:ext cx="44348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ศึกษาและวิเคราะห์ตู้ควบคุมระบบ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Premixer,Tower2</a:t>
            </a:r>
            <a:r>
              <a:rPr lang="th-TH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Tower3 </a:t>
            </a:r>
            <a:b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พัฒนา JavaScript/Node.js script ในการแยกวิเคราะห์ข้อมูลตาราง Excel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ออกแบบกระบวนการทำความสะอาดคำด้วยระบบ Normalization Script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พัฒนา Web application สำหรับค้นหารหัสอุปกรณ์และแสดงรูปวงจรควบคู่กัน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ทำการ Mapping ที่อยู่ PLC I/O เข้ากับเลขหน้าแบบแปลน PDF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12030" y="1074420"/>
            <a:ext cx="3954780" cy="294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8635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ขอบเขตงานภายนอก (Out-of-Scope)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86350" y="1645920"/>
            <a:ext cx="368046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ไม่รวมการเขียนโปรแกรมควบคุมหรือปรับเปลี่ยนโปรแกรมบน PLC จริง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ไม่รวมการดึงสถานะ Real-time Signal ของ I/O point ผ่านอินเทอร์เน็ต (เน้นข้อมูลโครงสร้างและการเดินสายไฟฮาร์ดแวร์)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ข้อมูล I/O และแบบแปลนไฟฟ้าจำกัดเฉพาะชุดข้อมูลที่ได้รับมอบหมาย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06146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4061460"/>
            <a:ext cx="884246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 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(XLSX, PDF-Parse) | Next.js (React 19, JavaScript) | JSON-based Database Mappings | Vanilla CSS (Premium dark/light layout, micro-animations)</a:t>
            </a:r>
            <a:endParaRPr lang="en-US" sz="1200" dirty="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5BC488D7-CCC2-15DE-1CB2-6CB436DB28C5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5215C48-E8AF-56C6-4179-8AD1C30D6271}"/>
              </a:ext>
            </a:extLst>
          </p:cNvPr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CURRENT STATUS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5740" y="5562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แผนงานและกรอบเวลาโครงการ (Project Timeline)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792159"/>
              </p:ext>
            </p:extLst>
          </p:nvPr>
        </p:nvGraphicFramePr>
        <p:xfrm>
          <a:off x="205740" y="922020"/>
          <a:ext cx="8138160" cy="3543300"/>
        </p:xfrm>
        <a:graphic>
          <a:graphicData uri="http://schemas.openxmlformats.org/drawingml/2006/table">
            <a:tbl>
              <a:tblPr/>
              <a:tblGrid>
                <a:gridCol w="135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กิจกรรมงานหลัก (Key Activities)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August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September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Arial" charset="0"/>
                          <a:ea typeface="Arial" charset="0"/>
                          <a:cs typeface="Arial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สถานะ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(Status)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วิเคราะห์โครงสร้าง Excel/PDF &amp;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คลีนนิ่งข้อมูล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██████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เสร็จสิ้น 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พัฒนา Script Excel Parser &amp; PDF Mapping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██████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เสร็จสิ้น 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พัฒนาระบบสืบค้น (Next.js UI) &amp; Normalization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██████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กำลังทำ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เก็บข้อมูล + ผนวกรวมชุดข้อมูล Tower 2 เข้าแอป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██████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ตามแผน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ทดสอบการใช้งานจริง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ร่วมกับช่าง &amp; คู่มือ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██████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ตามแผน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3">
            <a:extLst>
              <a:ext uri="{FF2B5EF4-FFF2-40B4-BE49-F238E27FC236}">
                <a16:creationId xmlns:a16="http://schemas.microsoft.com/office/drawing/2014/main" id="{E42E0F54-FAD8-2878-6482-C2D056E9CFE5}"/>
              </a:ext>
            </a:extLst>
          </p:cNvPr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A23A2FA5-C6B4-D138-2B64-F5A933E94337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BD79308-3A8F-D7AE-B8E2-1E1F7303061C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520CCCB-89F7-E857-6A53-0678B3506BF8}"/>
              </a:ext>
            </a:extLst>
          </p:cNvPr>
          <p:cNvSpPr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สิ่งที่ได้ดำเนินการแล้วเสร็จ (Completed Tasks)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011167-D714-F757-EDEA-CFE49F4E99C6}"/>
              </a:ext>
            </a:extLst>
          </p:cNvPr>
          <p:cNvSpPr/>
          <p:nvPr/>
        </p:nvSpPr>
        <p:spPr>
          <a:xfrm>
            <a:off x="548640" y="1737360"/>
            <a:ext cx="53035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วิเคราะห์โครงสร้างข้อมูล Excel I/O ทั้งหมดของตู้ MCC และ LCB ใน Tower 3 และ Premixer เรียบร้อยแล้ว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พัฒนา Script `parse-excel.cjs` </a:t>
            </a:r>
            <a:r>
              <a:rPr lang="th-TH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แยก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รหัส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ตู้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ยี่ห้อ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และสัญญาณ</a:t>
            </a:r>
            <a:endParaRPr lang="en-US" sz="130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พัฒนาระบบล้างคำผิดพลาด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เช่น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I0.0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คีย์ผิดเป็น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IO.0)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พัฒนา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Script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PDF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แบบแปลนดึงเลขหน้าตามกรอบแบบแปลน</a:t>
            </a:r>
            <a:endParaRPr lang="en-US" sz="130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พัฒนาแอปพลิเคชันเวอร์ช</a:t>
            </a:r>
            <a:r>
              <a:rPr lang="th-TH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ั่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นแรก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ค้นหาข้อมูลแบบ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Autocomplete 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และลิงก์ไปยังตู้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3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หน้าแบบแปลนได้สำเร็จ</a:t>
            </a:r>
            <a:endParaRPr lang="en-US" sz="13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6FDF7E94-895D-2A1C-7C27-F4B650AA98FF}"/>
              </a:ext>
            </a:extLst>
          </p:cNvPr>
          <p:cNvSpPr/>
          <p:nvPr/>
        </p:nvSpPr>
        <p:spPr>
          <a:xfrm>
            <a:off x="548640" y="228600"/>
            <a:ext cx="19596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CURRENT STATUS</a:t>
            </a:r>
            <a:endParaRPr lang="en-US" sz="10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8AC6312E-1080-6312-6A7B-84DD6AA98583}"/>
              </a:ext>
            </a:extLst>
          </p:cNvPr>
          <p:cNvSpPr/>
          <p:nvPr/>
        </p:nvSpPr>
        <p:spPr>
          <a:xfrm>
            <a:off x="548640" y="502920"/>
            <a:ext cx="61506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ความคืบหน้าปัจจุบัน (Current Progress)</a:t>
            </a:r>
            <a:endParaRPr lang="en-US" sz="26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3258C2A7-B339-288E-18C7-FCDE934446E8}"/>
              </a:ext>
            </a:extLst>
          </p:cNvPr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20987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6030DB2-4314-F116-113D-4150307C6C1D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9B18B17-C483-DB13-648A-B9EE30E87424}"/>
              </a:ext>
            </a:extLst>
          </p:cNvPr>
          <p:cNvSpPr/>
          <p:nvPr/>
        </p:nvSpPr>
        <p:spPr>
          <a:xfrm>
            <a:off x="548640" y="228600"/>
            <a:ext cx="19596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CURRENT STATUS</a:t>
            </a:r>
            <a:endParaRPr lang="en-US" sz="10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1C04496C-77F8-92FC-1E63-A72AD16B5FE7}"/>
              </a:ext>
            </a:extLst>
          </p:cNvPr>
          <p:cNvSpPr/>
          <p:nvPr/>
        </p:nvSpPr>
        <p:spPr>
          <a:xfrm>
            <a:off x="2188970" y="359537"/>
            <a:ext cx="11930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PC&amp;LAPTOP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B370054-FC2F-E3E6-6B6E-80D1BC8432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76"/>
          <a:stretch>
            <a:fillRect/>
          </a:stretch>
        </p:blipFill>
        <p:spPr>
          <a:xfrm>
            <a:off x="817452" y="920619"/>
            <a:ext cx="3936046" cy="18858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42DDE6-B205-59AF-30A2-00F24C5C3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721" y="1162596"/>
            <a:ext cx="1461449" cy="27841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BE27D4-BCE5-9FCE-5492-AA68E96ED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301" y="3136562"/>
            <a:ext cx="2438345" cy="13358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4A3743-9128-03F8-5E2A-86949B9A4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676" y="1162595"/>
            <a:ext cx="1939651" cy="2784161"/>
          </a:xfrm>
          <a:prstGeom prst="rect">
            <a:avLst/>
          </a:prstGeom>
        </p:spPr>
      </p:pic>
      <p:sp>
        <p:nvSpPr>
          <p:cNvPr id="25" name="Shape 0">
            <a:extLst>
              <a:ext uri="{FF2B5EF4-FFF2-40B4-BE49-F238E27FC236}">
                <a16:creationId xmlns:a16="http://schemas.microsoft.com/office/drawing/2014/main" id="{11CF15F4-21B3-D789-7F3B-82F52FD3F34A}"/>
              </a:ext>
            </a:extLst>
          </p:cNvPr>
          <p:cNvSpPr/>
          <p:nvPr/>
        </p:nvSpPr>
        <p:spPr>
          <a:xfrm rot="5400000" flipV="1">
            <a:off x="2576936" y="2543223"/>
            <a:ext cx="5143502" cy="57055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23EC69CE-AE43-0EFD-6A7F-1E956681517D}"/>
              </a:ext>
            </a:extLst>
          </p:cNvPr>
          <p:cNvSpPr/>
          <p:nvPr/>
        </p:nvSpPr>
        <p:spPr>
          <a:xfrm>
            <a:off x="6525680" y="371979"/>
            <a:ext cx="9403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Mobile</a:t>
            </a:r>
            <a:endParaRPr lang="en-US" sz="12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FAD0E092-6293-8717-BF1F-C57F7AA85AD9}"/>
              </a:ext>
            </a:extLst>
          </p:cNvPr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427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F40F6E-2B0E-3EB1-CB37-783EF4DC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92"/>
          <a:stretch>
            <a:fillRect/>
          </a:stretch>
        </p:blipFill>
        <p:spPr>
          <a:xfrm>
            <a:off x="189484" y="1405112"/>
            <a:ext cx="4766329" cy="2333275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5254869E-0724-2523-61F3-BF71FEA9007F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EF76235-FE09-8F18-90D9-291E8DBC6643}"/>
              </a:ext>
            </a:extLst>
          </p:cNvPr>
          <p:cNvSpPr/>
          <p:nvPr/>
        </p:nvSpPr>
        <p:spPr>
          <a:xfrm>
            <a:off x="548640" y="228600"/>
            <a:ext cx="19596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CURRENT STATUS</a:t>
            </a:r>
            <a:endParaRPr lang="en-US" sz="100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EDB530DD-220A-BA0A-B06D-C995B17D418A}"/>
              </a:ext>
            </a:extLst>
          </p:cNvPr>
          <p:cNvSpPr/>
          <p:nvPr/>
        </p:nvSpPr>
        <p:spPr>
          <a:xfrm rot="5400000" flipV="1">
            <a:off x="2576936" y="2543223"/>
            <a:ext cx="5143502" cy="57055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257CEF-53B8-F554-4FD6-2FEC8D1F98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7"/>
          <a:stretch>
            <a:fillRect/>
          </a:stretch>
        </p:blipFill>
        <p:spPr>
          <a:xfrm>
            <a:off x="7201874" y="981271"/>
            <a:ext cx="1765211" cy="327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99EBD3-9AFD-DF30-5313-A7DD3A18AA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78"/>
          <a:stretch>
            <a:fillRect/>
          </a:stretch>
        </p:blipFill>
        <p:spPr>
          <a:xfrm>
            <a:off x="5290480" y="981271"/>
            <a:ext cx="1747048" cy="3272400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70296731-4C0D-399C-B1DE-DE8AF16D4471}"/>
              </a:ext>
            </a:extLst>
          </p:cNvPr>
          <p:cNvSpPr/>
          <p:nvPr/>
        </p:nvSpPr>
        <p:spPr>
          <a:xfrm>
            <a:off x="2188970" y="359537"/>
            <a:ext cx="11930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PC&amp;LAPTOP</a:t>
            </a:r>
            <a:endParaRPr lang="en-US" sz="12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61575C53-CBE8-DE2E-58AF-12020950D4AD}"/>
              </a:ext>
            </a:extLst>
          </p:cNvPr>
          <p:cNvSpPr/>
          <p:nvPr/>
        </p:nvSpPr>
        <p:spPr>
          <a:xfrm>
            <a:off x="6525680" y="371979"/>
            <a:ext cx="9403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Mobile</a:t>
            </a:r>
            <a:endParaRPr lang="en-US" sz="1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C5EDC1E5-A858-8A4F-CD26-96B396599A5C}"/>
              </a:ext>
            </a:extLst>
          </p:cNvPr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5081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CHALLENGES &amp; SOLUTIONS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90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ปัญหา อุปสรรค </a:t>
            </a:r>
            <a:r>
              <a:rPr lang="en-US" sz="2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และการแก้ไข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474720" cy="3482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500" b="1" dirty="0" err="1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ข้อมูลไม่เป็นระเบียบ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591310"/>
            <a:ext cx="3108960" cy="2766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ปัญหา: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ใน Excel </a:t>
            </a:r>
            <a:r>
              <a:rPr lang="en-US" sz="11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อุปกรณ์เดียวกันถูกคีย์ไม่ตรงกัน</a:t>
            </a:r>
            <a:r>
              <a:rPr lang="th-TH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กับหน้า</a:t>
            </a: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Scada เช่น `V6.4_2` และ `V6.4.2` </a:t>
            </a:r>
            <a:r>
              <a:rPr lang="en-US" sz="11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ทำให้ค้นหา</a:t>
            </a:r>
            <a:r>
              <a:rPr lang="th-TH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รหัสเครื่องจักร</a:t>
            </a:r>
            <a:r>
              <a:rPr lang="en-US" sz="11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ไม่พบบาง</a:t>
            </a:r>
            <a:r>
              <a:rPr lang="th-TH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1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วิธีแก้ไข</a:t>
            </a: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พัฒนาฟังก์ชัน `normalizeCode` แปลงเครื่องหมาย `_` และ `-` ให้กลายเป็น `.` เสมอก่อนนำไปสร้างเป็นดัชนี และแปลงคำค้นหาของผู้ใช้งานให้มีฟอร์แมตแบบเดียวกัน ทำให้ค้นหาเจอทุกรูปแบบอย่างสม่ำเสมอ</a:t>
            </a:r>
            <a:endParaRPr lang="en-US" sz="115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8403E3A5-04FA-2464-6027-E2729D7E139A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F6A6F5-4B1C-2FFC-7406-64C90EF72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718" y="837580"/>
            <a:ext cx="3610947" cy="1786860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27E7926F-2615-44B3-6507-0ED240D3EEBC}"/>
              </a:ext>
            </a:extLst>
          </p:cNvPr>
          <p:cNvSpPr/>
          <p:nvPr/>
        </p:nvSpPr>
        <p:spPr>
          <a:xfrm>
            <a:off x="6400018" y="377205"/>
            <a:ext cx="9403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Before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90B1E60-8B5D-11A8-C83B-F7A1D58B7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717" y="3028242"/>
            <a:ext cx="3610947" cy="1807355"/>
          </a:xfrm>
          <a:prstGeom prst="rect">
            <a:avLst/>
          </a:prstGeom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E41CC3C5-E236-A499-17F7-58F0B8F9BE74}"/>
              </a:ext>
            </a:extLst>
          </p:cNvPr>
          <p:cNvSpPr/>
          <p:nvPr/>
        </p:nvSpPr>
        <p:spPr>
          <a:xfrm>
            <a:off x="6400017" y="2535506"/>
            <a:ext cx="9403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After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0">
            <a:extLst>
              <a:ext uri="{FF2B5EF4-FFF2-40B4-BE49-F238E27FC236}">
                <a16:creationId xmlns:a16="http://schemas.microsoft.com/office/drawing/2014/main" id="{624E2DF4-E64D-2122-2226-2E4CD932149C}"/>
              </a:ext>
            </a:extLst>
          </p:cNvPr>
          <p:cNvSpPr/>
          <p:nvPr/>
        </p:nvSpPr>
        <p:spPr>
          <a:xfrm>
            <a:off x="448268" y="1051560"/>
            <a:ext cx="4762500" cy="3589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6205CDDC-CD9D-B894-9B79-3DF3EBBE542D}"/>
              </a:ext>
            </a:extLst>
          </p:cNvPr>
          <p:cNvSpPr/>
          <p:nvPr/>
        </p:nvSpPr>
        <p:spPr>
          <a:xfrm>
            <a:off x="632418" y="1234440"/>
            <a:ext cx="3815588" cy="458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th-TH" sz="15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ข้อจำกัดในการเปิดไฟล์แปลน </a:t>
            </a:r>
            <a:r>
              <a:rPr lang="en-US" sz="15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</a:t>
            </a:r>
            <a:r>
              <a:rPr lang="th-TH" sz="15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ขนาดใหญ่ผ่านอุปกรณ์พกพา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504E1BE5-9125-953C-9291-1653E561DF4E}"/>
              </a:ext>
            </a:extLst>
          </p:cNvPr>
          <p:cNvSpPr/>
          <p:nvPr/>
        </p:nvSpPr>
        <p:spPr>
          <a:xfrm>
            <a:off x="1275546" y="1491664"/>
            <a:ext cx="3108960" cy="3136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1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2C93696-5356-82FC-3C88-29FA0888FA0E}"/>
              </a:ext>
            </a:extLst>
          </p:cNvPr>
          <p:cNvSpPr/>
          <p:nvPr/>
        </p:nvSpPr>
        <p:spPr>
          <a:xfrm>
            <a:off x="543518" y="1731010"/>
            <a:ext cx="4667250" cy="2766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⚡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ปัญหา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ไฟล์แบบแปลนระบบควบคุม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(PDF)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มีขนาดใหญ่มากและยาวกว่า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1,000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หน้า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th-TH"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การเรนเดอร์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PDF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ทั้งเล่มบนเบราว์เซอร์ของโทรศัพท์มือถือ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ใช้เวลาโหลดนานมาก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และหากอยู่ในจุดที่สัญญาณอินเทอร์เน็ตในโรงงานไม่เสถียร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เน็ตช้า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จะทำให้ระบบค้างและไม่สามารถแสดงผลแบบแปลนได้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💡 </a:t>
            </a:r>
            <a:r>
              <a:rPr lang="en-US" sz="115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วิธีแก้ไข</a:t>
            </a:r>
            <a:r>
              <a:rPr lang="en-US" sz="115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เปลี่ยนวิธีจากการโหลดไฟล์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PDF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โดยตรง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มาเป็นการพัฒนา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Script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หลังบ้าน</a:t>
            </a:r>
            <a:br>
              <a:rPr lang="th-TH"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แปลงหน้า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PDF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แยกเป็นไฟล์รูปภาพรายหน้า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th-TH" sz="1150" dirty="0">
                <a:latin typeface="Arial" panose="020B0604020202020204" pitchFamily="34" charset="0"/>
                <a:cs typeface="Arial" panose="020B0604020202020204" pitchFamily="34" charset="0"/>
              </a:rPr>
              <a:t>ใช้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Library:pdf-to-converter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b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และออกแบบให้เว็บแอปดึงเฉพาะรูปภาพหน้าที่ระบุตำแหน่ง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I/O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นั้นๆ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ไปแสดงผลแทน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ส่งผลให้ขนาดไฟล์ลดลงอย่างมหาศาล</a:t>
            </a:r>
            <a:r>
              <a:rPr lang="en-US" sz="1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dirty="0" err="1">
                <a:latin typeface="Arial" panose="020B0604020202020204" pitchFamily="34" charset="0"/>
                <a:cs typeface="Arial" panose="020B0604020202020204" pitchFamily="34" charset="0"/>
              </a:rPr>
              <a:t>เปิดภาพแปลนวงจรได้ทันทีโดยไม่ต้องพึ่งพาอินเทอร์เน็ตความเร็วสูง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9A2604BB-3A34-4A9F-F62D-D26012B74296}"/>
              </a:ext>
            </a:extLst>
          </p:cNvPr>
          <p:cNvSpPr/>
          <p:nvPr/>
        </p:nvSpPr>
        <p:spPr>
          <a:xfrm>
            <a:off x="548640" y="228600"/>
            <a:ext cx="23787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CHALLENGES &amp; SOLUTIONS</a:t>
            </a:r>
            <a:endParaRPr lang="en-US" sz="10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9315345C-E965-005E-2798-EEC83F778EFC}"/>
              </a:ext>
            </a:extLst>
          </p:cNvPr>
          <p:cNvSpPr/>
          <p:nvPr/>
        </p:nvSpPr>
        <p:spPr>
          <a:xfrm>
            <a:off x="548640" y="502920"/>
            <a:ext cx="590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ปัญหา อุปสรรค </a:t>
            </a:r>
            <a:r>
              <a:rPr lang="en-US" sz="2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และการแก้ไข</a:t>
            </a:r>
            <a:endParaRPr lang="en-US" sz="2600" dirty="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C1B33756-0E4B-67FF-1D85-E4D914414BA6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525041EE-EF48-DD47-8369-88D631C10A84}"/>
              </a:ext>
            </a:extLst>
          </p:cNvPr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0D3C812-9EAD-1D4E-3370-59136DF52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474" y="342900"/>
            <a:ext cx="1188308" cy="1461247"/>
          </a:xfrm>
          <a:prstGeom prst="rect">
            <a:avLst/>
          </a:prstGeom>
        </p:spPr>
      </p:pic>
      <p:sp>
        <p:nvSpPr>
          <p:cNvPr id="33" name="Arrow: Down 32">
            <a:extLst>
              <a:ext uri="{FF2B5EF4-FFF2-40B4-BE49-F238E27FC236}">
                <a16:creationId xmlns:a16="http://schemas.microsoft.com/office/drawing/2014/main" id="{6806B4ED-669C-00B7-8CBF-3815D316C133}"/>
              </a:ext>
            </a:extLst>
          </p:cNvPr>
          <p:cNvSpPr/>
          <p:nvPr/>
        </p:nvSpPr>
        <p:spPr>
          <a:xfrm>
            <a:off x="6738868" y="2130101"/>
            <a:ext cx="889519" cy="8832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9C7784D-385B-F648-97BB-409B39D30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761" y="3227387"/>
            <a:ext cx="1572572" cy="157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67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NEXT STEPS &amp;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2489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แผนงานในระยะถัดไป (Next Steps)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6250" y="1116330"/>
            <a:ext cx="601980" cy="46863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6250" y="1116330"/>
            <a:ext cx="601980" cy="46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50620" y="1051560"/>
            <a:ext cx="54330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64920" y="1062990"/>
            <a:ext cx="5301581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</a:t>
            </a:r>
            <a:r>
              <a:rPr lang="en-US" sz="1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</a:t>
            </a:r>
            <a:r>
              <a:rPr lang="th-TH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ในส่วนของ</a:t>
            </a: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Tower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4920" y="1337310"/>
            <a:ext cx="5301581" cy="32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รับตาราง Excel รายการ I/O และแบบแปลนไฟฟ้า PDF ล่าสุดของ Tower 2 จากทีม Automation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6250" y="1891665"/>
            <a:ext cx="601980" cy="46863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6250" y="1891665"/>
            <a:ext cx="601980" cy="46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50620" y="1784984"/>
            <a:ext cx="5415881" cy="6572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33500" y="1775460"/>
            <a:ext cx="5218940" cy="252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ล้างและประมวลผลข้อมูล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2049780"/>
            <a:ext cx="5218940" cy="336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นำเข้าสู่ระบบ Script Parser และทำ Normalization ล้างสัญลักษณ์สับสนของชุดข้อมูลใหม่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6250" y="2662553"/>
            <a:ext cx="601980" cy="46863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6250" y="2662553"/>
            <a:ext cx="601980" cy="46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35934" y="2521584"/>
            <a:ext cx="5433060" cy="657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18814" y="2553968"/>
            <a:ext cx="5235494" cy="23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ปรับปรุงหน้าเว็บ Split 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18814" y="2828288"/>
            <a:ext cx="5235494" cy="318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พัฒนาการเรนเดอร์ภาพแบบแปลนให้คมชัดยิ่งขึ้นและปรับความสมูทในการเปลี่ยนหน้าจอแสดงผล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6250" y="3380423"/>
            <a:ext cx="601980" cy="46863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250" y="3380423"/>
            <a:ext cx="601980" cy="46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150620" y="3285699"/>
            <a:ext cx="5509260" cy="620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33500" y="3258183"/>
            <a:ext cx="5308923" cy="2658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ทำการทดสอบระบบ</a:t>
            </a: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33500" y="3532503"/>
            <a:ext cx="5308923" cy="354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นำเว็บแอปพลิเคชันไปทดสอบใช้งานจริงร่วมกับช่างเทคนิคเพื่อตรวจเช็คความถูกต้องในการเดินสายไฟ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6250" y="4027170"/>
            <a:ext cx="601980" cy="468630"/>
          </a:xfrm>
          <a:prstGeom prst="rect">
            <a:avLst/>
          </a:prstGeom>
          <a:solidFill>
            <a:srgbClr val="CC1111"/>
          </a:solidFill>
          <a:ln w="1270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6250" y="4027170"/>
            <a:ext cx="601980" cy="46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135934" y="3982930"/>
            <a:ext cx="5932378" cy="5861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18814" y="4003133"/>
            <a:ext cx="5716655" cy="20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จัดทำคู่มือและส่งมอบงาน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18814" y="4277453"/>
            <a:ext cx="5716655" cy="275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ทำเอกสารแนะนำการใช้งาน (User Manual) และจัดอบรมสั้นๆ เพื่อเตรียมพร้อมเปิดใช้งานระบบอย่างถาวร</a:t>
            </a:r>
            <a:endParaRPr lang="en-US" sz="11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720FAE65-03DF-138C-68C0-A9A2F17891CF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14ABDDD3-EE95-93D4-F1E5-0A72FFEE94E0}"/>
              </a:ext>
            </a:extLst>
          </p:cNvPr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Inteqc Global — Automation Department | Phumiphat Siriwat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1382</Words>
  <Application>Microsoft Office PowerPoint</Application>
  <PresentationFormat>On-screen Show (16:9)</PresentationFormat>
  <Paragraphs>133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INTEQC I/O Finder</dc:title>
  <dc:subject>PptxGenJS Presentation</dc:subject>
  <dc:creator>Phumiphat Siriwat</dc:creator>
  <cp:lastModifiedBy>Pirun  Thongnam</cp:lastModifiedBy>
  <cp:revision>6</cp:revision>
  <dcterms:created xsi:type="dcterms:W3CDTF">2026-07-14T06:03:54Z</dcterms:created>
  <dcterms:modified xsi:type="dcterms:W3CDTF">2026-07-17T09:17:10Z</dcterms:modified>
</cp:coreProperties>
</file>